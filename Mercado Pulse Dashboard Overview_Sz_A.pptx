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1" r:id="rId2"/>
    <p:sldId id="262" r:id="rId3"/>
    <p:sldId id="264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55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929E92-A9A3-443F-95C3-9171D3F88B73}" v="46" dt="2026-04-06T04:11:28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043C8-0E0F-44A6-8C10-6DCC402BCD4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A1E47-E7DC-48F7-B56B-840D6218C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60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92A2-51BE-48FB-7057-DBED3F383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75BEB-10AC-DDB4-2C8B-4D29133F6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95E8A-63AA-C2D5-870C-02B9A8F98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208B-8C56-466F-BF5A-26FB0F699F66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386DD-9A90-002D-908D-BF26D5D6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2E8F5-3CFA-177B-C932-E10E1ED4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5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4B12F-9FB5-9516-FDD0-6252175C8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C5FA6-2A4B-43E1-D03C-EC5E4C1C3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FA1DD-B3DC-3ECB-205C-0BC8D69B7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2B064-C51E-46A3-8CED-924557E838CF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0C07C-340A-7B5A-011A-CF5139001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01441-4CAE-410B-248D-5FAFDBCA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83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E5D25-BBB9-402E-A2FA-2E6CAF9CE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A707E-4311-3CA6-ADE6-A1275A1A2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40CD8-3A90-7340-34BF-C755D0155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9B71F-0155-47AB-8BC8-096AC41777A7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FA414-2C5F-DFC1-2985-E3A325A3C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E776D-D769-0C6D-73EE-75AC378B7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75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46F12-34F1-E60E-80AF-390CFE43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3991D-E858-C99D-51E0-0000FD1AD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2C273-8925-1AE7-91DF-5FB226762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D16EC-09BB-83BD-11E6-2DC6C572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E229E-5B93-4E1D-A683-5D9FB6FD061E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46409-5A48-2828-B4D2-257359877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BD9AF-3994-42FF-9C46-88772E47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03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B92A1-635A-CC95-E292-032F2A33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200D7-8FDC-AAE7-7E80-FD719092D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3501A-770C-9D60-3023-6D01C186D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907B1C-FC85-7DB6-B0CB-A9D2B56E1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AC123C-59BB-942B-23C8-BCB81EADEC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037788-8754-5C11-7629-BAACA08C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A7BC-419F-4BD6-B28F-F336D87C9883}" type="datetime1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184CF1-B7D6-5D59-E0A7-C05D95D5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DAA892-5EAE-AE79-587B-2A30CD1F6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3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EFFB6-2611-2392-02F9-D21FD3CD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550141-CFE1-2087-775C-87CA58D0F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23DB-2137-43E4-9193-22EED581A0BD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3BBFB7-658C-46EC-2083-B9AB5A5C0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C5DD5-0136-01AC-3871-BC53EB30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5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545AF1-165A-0F07-CC4E-F890CCD3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F2917-A400-4EDA-9896-89A866141597}" type="datetime1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587DD-49C1-A1A4-C91D-4EE1E1CB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DB1C9-7CE6-3E73-8252-24AEB1B9A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7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7786-8212-E7CD-F1B7-F39BD76FD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08D8D-520C-09F6-2203-D4A66B96A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7EDA2-716B-7DC7-0B0F-D9439B077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8F650-69F5-1393-E294-871BEC6CA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F3842-A483-445D-8838-0DCC1E3B844A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EA05D-5D32-5870-9F5C-605D16210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4C42D-722F-9226-ADF2-D8D65A46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4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75C08-9425-19BA-9B3C-06BB3246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EDB2BD-2E66-FF73-F180-601111DF2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B0824-5BD7-EAFB-DD50-6C9EE5F60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D634-9F84-D9C7-2F4D-00AAEB975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5F925-7E94-4350-B0B8-FFF33DE6A3BA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10DDA-3994-EF20-11E7-CFCA30D32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EE1CF-2014-FAFE-CD18-2B966A81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2A2B-20DE-2501-68BA-2B54698A7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FB9D7-A134-68AC-307D-AF2BFE2A0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1BF58-E24B-A48D-8E0C-08D181E7E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5A56-D8DC-4E04-8D95-A9264A38CF94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4F4A1-1E58-1851-ABFA-8C20E769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85F17-FC33-AB93-90BB-13B700CE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97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F446FA-A165-D3D2-EC43-E0C0CB252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DD72D-AE15-1620-FA4A-5CD891155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0D3C1-67B6-909E-5796-72124D5F0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7304-3010-401D-BB62-653D8BC765D7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D9817-8984-E28D-600E-5AADE9A0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56DCA-36DA-4B57-A247-0F0368DE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0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857CF1-0F40-4B9D-8416-5C58DF6E0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9CF0A-5D22-3816-3C43-F331E117C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885F-ECF4-B35F-9F4D-2EB1EEE7E0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46330-92DB-4D35-8C43-6553ABE17ED4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88871-E6A8-1FD3-7984-11F64686B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8F1EF-6694-1396-6F3E-2C3DB57EE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4E7D5-6974-4BC8-905E-ECC87E707F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4912A-AFDC-AA64-8EBF-E8E8775C7C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4540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274158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594D-98B1-16E5-0BB8-0E20A8F6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18E7C6-7A06-1036-934D-7F968A352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" t="29855" r="8696" b="33623"/>
          <a:stretch>
            <a:fillRect/>
          </a:stretch>
        </p:blipFill>
        <p:spPr>
          <a:xfrm>
            <a:off x="2873210" y="2071551"/>
            <a:ext cx="6445580" cy="18799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57D01B-F007-6D95-9DB4-25427869754E}"/>
              </a:ext>
            </a:extLst>
          </p:cNvPr>
          <p:cNvSpPr/>
          <p:nvPr/>
        </p:nvSpPr>
        <p:spPr>
          <a:xfrm>
            <a:off x="0" y="0"/>
            <a:ext cx="12192000" cy="1088571"/>
          </a:xfrm>
          <a:prstGeom prst="rect">
            <a:avLst/>
          </a:prstGeom>
          <a:solidFill>
            <a:srgbClr val="0155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DD913C-5D9C-3123-B82D-9D4E02F73CCE}"/>
              </a:ext>
            </a:extLst>
          </p:cNvPr>
          <p:cNvSpPr/>
          <p:nvPr/>
        </p:nvSpPr>
        <p:spPr>
          <a:xfrm>
            <a:off x="0" y="5769429"/>
            <a:ext cx="12192000" cy="1088571"/>
          </a:xfrm>
          <a:prstGeom prst="rect">
            <a:avLst/>
          </a:prstGeom>
          <a:solidFill>
            <a:srgbClr val="0155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AB4E36-BC1B-43F7-0DEB-0CFC2DF78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6414" y="3951513"/>
            <a:ext cx="9699171" cy="712334"/>
          </a:xfrm>
        </p:spPr>
        <p:txBody>
          <a:bodyPr>
            <a:noAutofit/>
          </a:bodyPr>
          <a:lstStyle/>
          <a:p>
            <a:r>
              <a:rPr lang="hu-HU" sz="5600" dirty="0" err="1">
                <a:latin typeface="Trebuchet MS" panose="020B0603020202020204" pitchFamily="34" charset="0"/>
              </a:rPr>
              <a:t>Dashboard</a:t>
            </a:r>
            <a:r>
              <a:rPr lang="hu-HU" sz="5600" dirty="0">
                <a:latin typeface="Trebuchet MS" panose="020B0603020202020204" pitchFamily="34" charset="0"/>
              </a:rPr>
              <a:t> </a:t>
            </a:r>
            <a:r>
              <a:rPr lang="hu-HU" sz="5600" dirty="0" err="1">
                <a:latin typeface="Trebuchet MS" panose="020B0603020202020204" pitchFamily="34" charset="0"/>
              </a:rPr>
              <a:t>Insights</a:t>
            </a:r>
            <a:r>
              <a:rPr lang="hu-HU" sz="5600" dirty="0">
                <a:latin typeface="Trebuchet MS" panose="020B0603020202020204" pitchFamily="34" charset="0"/>
              </a:rPr>
              <a:t> Overview</a:t>
            </a:r>
            <a:endParaRPr lang="en-US" sz="5600" dirty="0">
              <a:latin typeface="Trebuchet MS" panose="020B0603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C8B630-575C-229C-89DD-5EDA70E61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520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DFE7C-8486-2FCA-807E-D37A3BBC6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0629" y="-150132"/>
            <a:ext cx="4463143" cy="1011237"/>
          </a:xfrm>
        </p:spPr>
        <p:txBody>
          <a:bodyPr>
            <a:normAutofit/>
          </a:bodyPr>
          <a:lstStyle/>
          <a:p>
            <a:r>
              <a:rPr lang="hu-HU" sz="5000" dirty="0">
                <a:latin typeface="Trebuchet MS" panose="020B0603020202020204" pitchFamily="34" charset="0"/>
              </a:rPr>
              <a:t>1. Main Page</a:t>
            </a:r>
            <a:endParaRPr lang="en-US" sz="5000" dirty="0">
              <a:latin typeface="Trebuchet MS" panose="020B06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AD8B-BF1F-A48C-5D1E-B3C1E655B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" t="29855" r="8696" b="33623"/>
          <a:stretch>
            <a:fillRect/>
          </a:stretch>
        </p:blipFill>
        <p:spPr>
          <a:xfrm>
            <a:off x="0" y="6192839"/>
            <a:ext cx="1791472" cy="52251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977CF6-24C7-EA20-4A10-E626D6EBA47A}"/>
              </a:ext>
            </a:extLst>
          </p:cNvPr>
          <p:cNvCxnSpPr/>
          <p:nvPr/>
        </p:nvCxnSpPr>
        <p:spPr>
          <a:xfrm>
            <a:off x="217714" y="903512"/>
            <a:ext cx="11560629" cy="0"/>
          </a:xfrm>
          <a:prstGeom prst="line">
            <a:avLst/>
          </a:prstGeom>
          <a:ln>
            <a:solidFill>
              <a:srgbClr val="015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C1293A8-0618-5692-037A-27F71C8FA458}"/>
              </a:ext>
            </a:extLst>
          </p:cNvPr>
          <p:cNvSpPr txBox="1"/>
          <p:nvPr/>
        </p:nvSpPr>
        <p:spPr>
          <a:xfrm>
            <a:off x="304799" y="1480457"/>
            <a:ext cx="1147354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rebuchet MS" panose="020B0603020202020204" pitchFamily="34" charset="0"/>
              </a:rPr>
              <a:t>KPI </a:t>
            </a:r>
            <a:r>
              <a:rPr lang="hu-HU" dirty="0" err="1">
                <a:latin typeface="Trebuchet MS" panose="020B0603020202020204" pitchFamily="34" charset="0"/>
              </a:rPr>
              <a:t>Scorecards</a:t>
            </a:r>
            <a:r>
              <a:rPr lang="hu-HU" dirty="0">
                <a:latin typeface="Trebuchet MS" panose="020B0603020202020204" pitchFamily="34" charset="0"/>
              </a:rPr>
              <a:t>:</a:t>
            </a:r>
          </a:p>
          <a:p>
            <a:endParaRPr lang="hu-HU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Trebuchet MS" panose="020B0603020202020204" pitchFamily="34" charset="0"/>
              </a:rPr>
              <a:t>Heartbeat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metrics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contain</a:t>
            </a:r>
            <a:r>
              <a:rPr lang="hu-HU" dirty="0">
                <a:latin typeface="Trebuchet MS" panose="020B0603020202020204" pitchFamily="34" charset="0"/>
              </a:rPr>
              <a:t> a </a:t>
            </a:r>
            <a:r>
              <a:rPr lang="hu-HU" dirty="0" err="1">
                <a:latin typeface="Trebuchet MS" panose="020B0603020202020204" pitchFamily="34" charset="0"/>
              </a:rPr>
              <a:t>quick</a:t>
            </a:r>
            <a:r>
              <a:rPr lang="hu-HU" dirty="0">
                <a:latin typeface="Trebuchet MS" panose="020B0603020202020204" pitchFamily="34" charset="0"/>
              </a:rPr>
              <a:t> overview of </a:t>
            </a:r>
            <a:r>
              <a:rPr lang="hu-HU" dirty="0" err="1">
                <a:latin typeface="Trebuchet MS" panose="020B0603020202020204" pitchFamily="34" charset="0"/>
              </a:rPr>
              <a:t>the</a:t>
            </a:r>
            <a:r>
              <a:rPr lang="hu-HU" dirty="0">
                <a:latin typeface="Trebuchet MS" panose="020B0603020202020204" pitchFamily="34" charset="0"/>
              </a:rPr>
              <a:t> most </a:t>
            </a:r>
            <a:r>
              <a:rPr lang="hu-HU" dirty="0" err="1">
                <a:latin typeface="Trebuchet MS" panose="020B0603020202020204" pitchFamily="34" charset="0"/>
              </a:rPr>
              <a:t>vital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parts</a:t>
            </a:r>
            <a:r>
              <a:rPr lang="hu-HU" dirty="0">
                <a:latin typeface="Trebuchet MS" panose="020B0603020202020204" pitchFamily="34" charset="0"/>
              </a:rPr>
              <a:t> of </a:t>
            </a:r>
            <a:r>
              <a:rPr lang="hu-HU" dirty="0" err="1">
                <a:latin typeface="Trebuchet MS" panose="020B0603020202020204" pitchFamily="34" charset="0"/>
              </a:rPr>
              <a:t>the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company’s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opeartions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at</a:t>
            </a:r>
            <a:r>
              <a:rPr lang="hu-HU" dirty="0">
                <a:latin typeface="Trebuchet MS" panose="020B0603020202020204" pitchFamily="34" charset="0"/>
              </a:rPr>
              <a:t> a </a:t>
            </a:r>
            <a:r>
              <a:rPr lang="hu-HU" dirty="0" err="1">
                <a:latin typeface="Trebuchet MS" panose="020B0603020202020204" pitchFamily="34" charset="0"/>
              </a:rPr>
              <a:t>glance</a:t>
            </a:r>
            <a:endParaRPr lang="hu-HU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latin typeface="Trebuchet MS" panose="020B0603020202020204" pitchFamily="34" charset="0"/>
              </a:rPr>
              <a:t>Why </a:t>
            </a:r>
            <a:r>
              <a:rPr lang="hu-HU" dirty="0" err="1">
                <a:latin typeface="Trebuchet MS" panose="020B0603020202020204" pitchFamily="34" charset="0"/>
              </a:rPr>
              <a:t>this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matters</a:t>
            </a:r>
            <a:r>
              <a:rPr lang="hu-HU" dirty="0">
                <a:latin typeface="Trebuchet MS" panose="020B0603020202020204" pitchFamily="34" charset="0"/>
              </a:rPr>
              <a:t>:</a:t>
            </a:r>
            <a:br>
              <a:rPr lang="hu-HU" dirty="0">
                <a:latin typeface="Trebuchet MS" panose="020B0603020202020204" pitchFamily="34" charset="0"/>
              </a:rPr>
            </a:br>
            <a:br>
              <a:rPr lang="hu-HU" dirty="0">
                <a:latin typeface="Trebuchet MS" panose="020B0603020202020204" pitchFamily="34" charset="0"/>
              </a:rPr>
            </a:br>
            <a:r>
              <a:rPr lang="hu-HU" dirty="0">
                <a:latin typeface="Trebuchet MS" panose="020B0603020202020204" pitchFamily="34" charset="0"/>
              </a:rPr>
              <a:t>	- </a:t>
            </a:r>
            <a:r>
              <a:rPr lang="en-US" dirty="0">
                <a:latin typeface="Trebuchet MS" panose="020B0603020202020204" pitchFamily="34" charset="0"/>
              </a:rPr>
              <a:t>A high on‑time delivery rate plus high satisfaction is a direct signal of operational reliability and </a:t>
            </a:r>
            <a:r>
              <a:rPr lang="hu-HU" dirty="0">
                <a:latin typeface="Trebuchet MS" panose="020B0603020202020204" pitchFamily="34" charset="0"/>
              </a:rPr>
              <a:t>	</a:t>
            </a:r>
            <a:r>
              <a:rPr lang="en-US" dirty="0">
                <a:latin typeface="Trebuchet MS" panose="020B0603020202020204" pitchFamily="34" charset="0"/>
              </a:rPr>
              <a:t>customer trust (foundational for repeat purchase and brand strength).</a:t>
            </a:r>
            <a:endParaRPr lang="hu-HU" dirty="0">
              <a:latin typeface="Trebuchet MS" panose="020B0603020202020204" pitchFamily="34" charset="0"/>
            </a:endParaRPr>
          </a:p>
          <a:p>
            <a:r>
              <a:rPr lang="hu-HU" dirty="0">
                <a:latin typeface="Trebuchet MS" panose="020B0603020202020204" pitchFamily="34" charset="0"/>
              </a:rPr>
              <a:t>	- </a:t>
            </a:r>
            <a:r>
              <a:rPr lang="en-US" dirty="0">
                <a:latin typeface="Trebuchet MS" panose="020B0603020202020204" pitchFamily="34" charset="0"/>
              </a:rPr>
              <a:t>Seasonality visibility matters because spikes often stress fulfillment and can quickly erode delivery </a:t>
            </a:r>
            <a:r>
              <a:rPr lang="hu-HU" dirty="0">
                <a:latin typeface="Trebuchet MS" panose="020B0603020202020204" pitchFamily="34" charset="0"/>
              </a:rPr>
              <a:t>	</a:t>
            </a:r>
            <a:r>
              <a:rPr lang="en-US" dirty="0">
                <a:latin typeface="Trebuchet MS" panose="020B0603020202020204" pitchFamily="34" charset="0"/>
              </a:rPr>
              <a:t>performance and satisfaction if capacity isn’t aligned.</a:t>
            </a:r>
            <a:br>
              <a:rPr lang="hu-HU" sz="1600" dirty="0">
                <a:latin typeface="Trebuchet MS" panose="020B0603020202020204" pitchFamily="34" charset="0"/>
              </a:rPr>
            </a:br>
            <a:endParaRPr lang="hu-HU" sz="16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Trebuchet MS" panose="020B0603020202020204" pitchFamily="34" charset="0"/>
              </a:rPr>
              <a:t>This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also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gives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us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the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possibility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for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future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additions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regarding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safety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en-GB" noProof="0" dirty="0">
                <a:latin typeface="Trebuchet MS" panose="020B0603020202020204" pitchFamily="34" charset="0"/>
              </a:rPr>
              <a:t>thresholds</a:t>
            </a:r>
            <a:r>
              <a:rPr lang="hu-HU" noProof="0" dirty="0">
                <a:latin typeface="Trebuchet MS" panose="020B0603020202020204" pitchFamily="34" charset="0"/>
              </a:rPr>
              <a:t> / </a:t>
            </a:r>
            <a:r>
              <a:rPr lang="hu-HU" noProof="0" dirty="0" err="1">
                <a:latin typeface="Trebuchet MS" panose="020B0603020202020204" pitchFamily="34" charset="0"/>
              </a:rPr>
              <a:t>targets</a:t>
            </a:r>
            <a:endParaRPr lang="hu-HU" dirty="0">
              <a:latin typeface="Trebuchet MS" panose="020B0603020202020204" pitchFamily="34" charset="0"/>
            </a:endParaRPr>
          </a:p>
          <a:p>
            <a:endParaRPr lang="hu-HU" dirty="0">
              <a:latin typeface="Trebuchet MS" panose="020B0603020202020204" pitchFamily="34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Trebuchet MS" panose="020B0603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F949B-9C98-45F6-C546-0CAB2FC9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3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BD70C-11DA-B7F3-7370-93707775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6BC5C-7AAB-1C83-677D-AB1B96EB3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0628" y="-150132"/>
            <a:ext cx="5976258" cy="1011237"/>
          </a:xfrm>
        </p:spPr>
        <p:txBody>
          <a:bodyPr>
            <a:normAutofit/>
          </a:bodyPr>
          <a:lstStyle/>
          <a:p>
            <a:r>
              <a:rPr lang="hu-HU" sz="5000" dirty="0">
                <a:latin typeface="Trebuchet MS" panose="020B0603020202020204" pitchFamily="34" charset="0"/>
              </a:rPr>
              <a:t>2. </a:t>
            </a:r>
            <a:r>
              <a:rPr lang="hu-HU" sz="5000" dirty="0" err="1">
                <a:latin typeface="Trebuchet MS" panose="020B0603020202020204" pitchFamily="34" charset="0"/>
              </a:rPr>
              <a:t>Sales</a:t>
            </a:r>
            <a:r>
              <a:rPr lang="hu-HU" sz="5000" dirty="0">
                <a:latin typeface="Trebuchet MS" panose="020B0603020202020204" pitchFamily="34" charset="0"/>
              </a:rPr>
              <a:t> Overview</a:t>
            </a:r>
            <a:endParaRPr lang="en-US" sz="5000" dirty="0">
              <a:latin typeface="Trebuchet MS" panose="020B06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5B2DB9-0FC1-F855-6245-510AA4243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" t="29855" r="8696" b="33623"/>
          <a:stretch>
            <a:fillRect/>
          </a:stretch>
        </p:blipFill>
        <p:spPr>
          <a:xfrm>
            <a:off x="0" y="6192839"/>
            <a:ext cx="1791472" cy="52251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1E9A82-5E1C-46F0-23A1-95BD2CCDC0EE}"/>
              </a:ext>
            </a:extLst>
          </p:cNvPr>
          <p:cNvCxnSpPr/>
          <p:nvPr/>
        </p:nvCxnSpPr>
        <p:spPr>
          <a:xfrm>
            <a:off x="217714" y="903512"/>
            <a:ext cx="11560629" cy="0"/>
          </a:xfrm>
          <a:prstGeom prst="line">
            <a:avLst/>
          </a:prstGeom>
          <a:ln>
            <a:solidFill>
              <a:srgbClr val="015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652831C-426F-7029-A205-279A83B38491}"/>
              </a:ext>
            </a:extLst>
          </p:cNvPr>
          <p:cNvSpPr txBox="1"/>
          <p:nvPr/>
        </p:nvSpPr>
        <p:spPr>
          <a:xfrm>
            <a:off x="304799" y="1480457"/>
            <a:ext cx="1164771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>
                <a:latin typeface="Trebuchet MS" panose="020B0603020202020204" pitchFamily="34" charset="0"/>
              </a:rPr>
              <a:t>Revenue </a:t>
            </a:r>
            <a:r>
              <a:rPr lang="en-US" dirty="0">
                <a:latin typeface="Trebuchet MS" panose="020B0603020202020204" pitchFamily="34" charset="0"/>
              </a:rPr>
              <a:t>is healthy, but growth is driven by order volume rather than basket size</a:t>
            </a:r>
            <a:r>
              <a:rPr lang="hu-HU" dirty="0">
                <a:latin typeface="Trebuchet MS" panose="020B0603020202020204" pitchFamily="34" charset="0"/>
              </a:rPr>
              <a:t> -&gt; </a:t>
            </a:r>
            <a:r>
              <a:rPr lang="en-US" dirty="0">
                <a:latin typeface="Trebuchet MS" panose="020B0603020202020204" pitchFamily="34" charset="0"/>
              </a:rPr>
              <a:t>This means current revenue performance depends more on bringing in more orders, not on customers buying more per transaction.</a:t>
            </a:r>
            <a:endParaRPr lang="hu-HU" dirty="0">
              <a:latin typeface="Trebuchet MS" panose="020B0603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rebuchet MS" panose="020B0603020202020204" pitchFamily="34" charset="0"/>
              </a:rPr>
              <a:t>Payment </a:t>
            </a:r>
            <a:r>
              <a:rPr lang="en-US" dirty="0" err="1">
                <a:latin typeface="Trebuchet MS" panose="020B0603020202020204" pitchFamily="34" charset="0"/>
              </a:rPr>
              <a:t>behaviour</a:t>
            </a:r>
            <a:r>
              <a:rPr lang="en-US" dirty="0">
                <a:latin typeface="Trebuchet MS" panose="020B0603020202020204" pitchFamily="34" charset="0"/>
              </a:rPr>
              <a:t> is a key driver of revenue quality</a:t>
            </a:r>
            <a:r>
              <a:rPr lang="hu-HU" dirty="0">
                <a:latin typeface="Trebuchet MS" panose="020B0603020202020204" pitchFamily="34" charset="0"/>
              </a:rPr>
              <a:t>. The </a:t>
            </a:r>
            <a:r>
              <a:rPr lang="hu-HU" dirty="0" err="1">
                <a:latin typeface="Trebuchet MS" panose="020B0603020202020204" pitchFamily="34" charset="0"/>
              </a:rPr>
              <a:t>page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offers</a:t>
            </a:r>
            <a:r>
              <a:rPr lang="hu-HU" dirty="0">
                <a:latin typeface="Trebuchet MS" panose="020B0603020202020204" pitchFamily="34" charset="0"/>
              </a:rPr>
              <a:t> explicit </a:t>
            </a:r>
            <a:r>
              <a:rPr lang="hu-HU" dirty="0" err="1">
                <a:latin typeface="Trebuchet MS" panose="020B0603020202020204" pitchFamily="34" charset="0"/>
              </a:rPr>
              <a:t>focus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on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metrics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such</a:t>
            </a:r>
            <a:r>
              <a:rPr lang="hu-HU" dirty="0">
                <a:latin typeface="Trebuchet MS" panose="020B0603020202020204" pitchFamily="34" charset="0"/>
              </a:rPr>
              <a:t> as: Revenue </a:t>
            </a:r>
            <a:r>
              <a:rPr lang="hu-HU" dirty="0" err="1">
                <a:latin typeface="Trebuchet MS" panose="020B0603020202020204" pitchFamily="34" charset="0"/>
              </a:rPr>
              <a:t>decomposition</a:t>
            </a:r>
            <a:r>
              <a:rPr lang="hu-HU" dirty="0">
                <a:latin typeface="Trebuchet MS" panose="020B0603020202020204" pitchFamily="34" charset="0"/>
              </a:rPr>
              <a:t> and C</a:t>
            </a:r>
            <a:r>
              <a:rPr lang="en-US" dirty="0" err="1">
                <a:latin typeface="Trebuchet MS" panose="020B0603020202020204" pitchFamily="34" charset="0"/>
              </a:rPr>
              <a:t>onsumer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en-US" dirty="0">
                <a:latin typeface="Trebuchet MS" panose="020B0603020202020204" pitchFamily="34" charset="0"/>
              </a:rPr>
              <a:t>payment </a:t>
            </a:r>
            <a:r>
              <a:rPr lang="hu-HU" dirty="0">
                <a:latin typeface="Trebuchet MS" panose="020B0603020202020204" pitchFamily="34" charset="0"/>
              </a:rPr>
              <a:t>b</a:t>
            </a:r>
            <a:r>
              <a:rPr lang="en-US" dirty="0" err="1">
                <a:latin typeface="Trebuchet MS" panose="020B0603020202020204" pitchFamily="34" charset="0"/>
              </a:rPr>
              <a:t>ehaviou</a:t>
            </a:r>
            <a:r>
              <a:rPr lang="hu-HU" dirty="0">
                <a:latin typeface="Trebuchet MS" panose="020B0603020202020204" pitchFamily="34" charset="0"/>
              </a:rPr>
              <a:t>r </a:t>
            </a:r>
            <a:r>
              <a:rPr lang="hu-HU" dirty="0" err="1">
                <a:latin typeface="Trebuchet MS" panose="020B0603020202020204" pitchFamily="34" charset="0"/>
              </a:rPr>
              <a:t>indicators</a:t>
            </a:r>
            <a:r>
              <a:rPr lang="hu-HU" dirty="0">
                <a:latin typeface="Trebuchet MS" panose="020B0603020202020204" pitchFamily="34" charset="0"/>
              </a:rPr>
              <a:t>. </a:t>
            </a:r>
            <a:r>
              <a:rPr lang="hu-HU" dirty="0" err="1">
                <a:latin typeface="Trebuchet MS" panose="020B0603020202020204" pitchFamily="34" charset="0"/>
              </a:rPr>
              <a:t>Based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on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the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findings</a:t>
            </a:r>
            <a:r>
              <a:rPr lang="hu-HU" dirty="0">
                <a:latin typeface="Trebuchet MS" panose="020B0603020202020204" pitchFamily="34" charset="0"/>
              </a:rPr>
              <a:t>, </a:t>
            </a:r>
            <a:r>
              <a:rPr lang="hu-HU" dirty="0" err="1">
                <a:latin typeface="Trebuchet MS" panose="020B0603020202020204" pitchFamily="34" charset="0"/>
              </a:rPr>
              <a:t>we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can</a:t>
            </a:r>
            <a:r>
              <a:rPr lang="hu-HU" dirty="0">
                <a:latin typeface="Trebuchet MS" panose="020B0603020202020204" pitchFamily="34" charset="0"/>
              </a:rPr>
              <a:t>:</a:t>
            </a:r>
            <a:br>
              <a:rPr lang="hu-HU" dirty="0">
                <a:latin typeface="Trebuchet MS" panose="020B0603020202020204" pitchFamily="34" charset="0"/>
              </a:rPr>
            </a:br>
            <a:endParaRPr lang="hu-HU" dirty="0">
              <a:latin typeface="Trebuchet MS" panose="020B0603020202020204" pitchFamily="34" charset="0"/>
            </a:endParaRPr>
          </a:p>
          <a:p>
            <a:r>
              <a:rPr lang="hu-HU" dirty="0">
                <a:latin typeface="Trebuchet MS" panose="020B0603020202020204" pitchFamily="34" charset="0"/>
              </a:rPr>
              <a:t>	- </a:t>
            </a:r>
            <a:r>
              <a:rPr lang="en-US" dirty="0">
                <a:latin typeface="Trebuchet MS" panose="020B0603020202020204" pitchFamily="34" charset="0"/>
              </a:rPr>
              <a:t>Identify high‑value payment patterns</a:t>
            </a:r>
            <a:endParaRPr lang="hu-HU" dirty="0">
              <a:latin typeface="Trebuchet MS" panose="020B0603020202020204" pitchFamily="34" charset="0"/>
            </a:endParaRPr>
          </a:p>
          <a:p>
            <a:r>
              <a:rPr lang="hu-HU" dirty="0">
                <a:latin typeface="Trebuchet MS" panose="020B0603020202020204" pitchFamily="34" charset="0"/>
              </a:rPr>
              <a:t>	- </a:t>
            </a:r>
            <a:r>
              <a:rPr lang="en-US" dirty="0">
                <a:latin typeface="Trebuchet MS" panose="020B0603020202020204" pitchFamily="34" charset="0"/>
              </a:rPr>
              <a:t>Promote </a:t>
            </a:r>
            <a:r>
              <a:rPr lang="en-US" dirty="0" err="1">
                <a:latin typeface="Trebuchet MS" panose="020B0603020202020204" pitchFamily="34" charset="0"/>
              </a:rPr>
              <a:t>favourable</a:t>
            </a:r>
            <a:r>
              <a:rPr lang="en-US" dirty="0">
                <a:latin typeface="Trebuchet MS" panose="020B0603020202020204" pitchFamily="34" charset="0"/>
              </a:rPr>
              <a:t> payment options during checkout and campaigns</a:t>
            </a:r>
            <a:endParaRPr lang="hu-HU" dirty="0">
              <a:latin typeface="Trebuchet MS" panose="020B0603020202020204" pitchFamily="34" charset="0"/>
            </a:endParaRPr>
          </a:p>
          <a:p>
            <a:r>
              <a:rPr lang="hu-HU" dirty="0">
                <a:latin typeface="Trebuchet MS" panose="020B0603020202020204" pitchFamily="34" charset="0"/>
              </a:rPr>
              <a:t>	- </a:t>
            </a:r>
            <a:r>
              <a:rPr lang="en-US" dirty="0">
                <a:latin typeface="Trebuchet MS" panose="020B0603020202020204" pitchFamily="34" charset="0"/>
              </a:rPr>
              <a:t>Align promotions with payment </a:t>
            </a:r>
            <a:r>
              <a:rPr lang="en-US" dirty="0" err="1">
                <a:latin typeface="Trebuchet MS" panose="020B0603020202020204" pitchFamily="34" charset="0"/>
              </a:rPr>
              <a:t>behaviour</a:t>
            </a:r>
            <a:endParaRPr lang="hu-HU" dirty="0">
              <a:latin typeface="Trebuchet MS" panose="020B0603020202020204" pitchFamily="34" charset="0"/>
            </a:endParaRPr>
          </a:p>
          <a:p>
            <a:endParaRPr lang="hu-HU" dirty="0">
              <a:latin typeface="Trebuchet MS" panose="020B0603020202020204" pitchFamily="34" charset="0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US" dirty="0">
                <a:latin typeface="Trebuchet MS" panose="020B0603020202020204" pitchFamily="34" charset="0"/>
              </a:rPr>
              <a:t>Revenue isn’t just about products — how customers pay materially affects order value and quality, making payment </a:t>
            </a:r>
            <a:r>
              <a:rPr lang="en-US" dirty="0" err="1">
                <a:latin typeface="Trebuchet MS" panose="020B0603020202020204" pitchFamily="34" charset="0"/>
              </a:rPr>
              <a:t>behaviour</a:t>
            </a:r>
            <a:r>
              <a:rPr lang="en-US" dirty="0">
                <a:latin typeface="Trebuchet MS" panose="020B0603020202020204" pitchFamily="34" charset="0"/>
              </a:rPr>
              <a:t> a first‑class commercial lever</a:t>
            </a:r>
            <a:br>
              <a:rPr lang="hu-HU" dirty="0">
                <a:latin typeface="Trebuchet MS" panose="020B0603020202020204" pitchFamily="34" charset="0"/>
              </a:rPr>
            </a:br>
            <a:endParaRPr lang="hu-HU" dirty="0">
              <a:latin typeface="Trebuchet MS" panose="020B0603020202020204" pitchFamily="34" charset="0"/>
            </a:endParaRPr>
          </a:p>
          <a:p>
            <a:endParaRPr lang="hu-HU" dirty="0">
              <a:latin typeface="Trebuchet MS" panose="020B0603020202020204" pitchFamily="34" charset="0"/>
            </a:endParaRPr>
          </a:p>
          <a:p>
            <a:endParaRPr lang="hu-HU" dirty="0">
              <a:latin typeface="Trebuchet MS" panose="020B0603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AA80B6-585D-2511-15E3-BA9608001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54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23DCE-6111-0C7A-BB5B-215E289A8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96DD-0433-17F0-5ED2-E8835A3CC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0628" y="-150132"/>
            <a:ext cx="5050971" cy="1011237"/>
          </a:xfrm>
        </p:spPr>
        <p:txBody>
          <a:bodyPr>
            <a:normAutofit/>
          </a:bodyPr>
          <a:lstStyle/>
          <a:p>
            <a:r>
              <a:rPr lang="hu-HU" sz="5000" dirty="0">
                <a:latin typeface="Trebuchet MS" panose="020B0603020202020204" pitchFamily="34" charset="0"/>
              </a:rPr>
              <a:t>3. The website</a:t>
            </a:r>
            <a:endParaRPr lang="en-US" sz="5000" dirty="0">
              <a:latin typeface="Trebuchet MS" panose="020B06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D79EA5-DCF8-13D5-D142-5FFD05F37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" t="29855" r="8696" b="33623"/>
          <a:stretch>
            <a:fillRect/>
          </a:stretch>
        </p:blipFill>
        <p:spPr>
          <a:xfrm>
            <a:off x="0" y="6192839"/>
            <a:ext cx="1791472" cy="52251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08B12D-8485-BE49-A70A-4ABB30BE4F3D}"/>
              </a:ext>
            </a:extLst>
          </p:cNvPr>
          <p:cNvCxnSpPr/>
          <p:nvPr/>
        </p:nvCxnSpPr>
        <p:spPr>
          <a:xfrm>
            <a:off x="217714" y="903512"/>
            <a:ext cx="11560629" cy="0"/>
          </a:xfrm>
          <a:prstGeom prst="line">
            <a:avLst/>
          </a:prstGeom>
          <a:ln>
            <a:solidFill>
              <a:srgbClr val="015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D7FD0C3-E75C-7226-C8E8-37A356A6255F}"/>
              </a:ext>
            </a:extLst>
          </p:cNvPr>
          <p:cNvSpPr txBox="1"/>
          <p:nvPr/>
        </p:nvSpPr>
        <p:spPr>
          <a:xfrm>
            <a:off x="304799" y="1480457"/>
            <a:ext cx="113429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u="sng" dirty="0">
                <a:latin typeface="Trebuchet MS" panose="020B0603020202020204" pitchFamily="34" charset="0"/>
              </a:rPr>
              <a:t>The website as a </a:t>
            </a:r>
            <a:r>
              <a:rPr lang="hu-HU" u="sng" dirty="0" err="1">
                <a:latin typeface="Trebuchet MS" panose="020B0603020202020204" pitchFamily="34" charset="0"/>
              </a:rPr>
              <a:t>revenue</a:t>
            </a:r>
            <a:r>
              <a:rPr lang="hu-HU" u="sng" dirty="0">
                <a:latin typeface="Trebuchet MS" panose="020B0603020202020204" pitchFamily="34" charset="0"/>
              </a:rPr>
              <a:t> </a:t>
            </a:r>
            <a:r>
              <a:rPr lang="hu-HU" u="sng" dirty="0" err="1">
                <a:latin typeface="Trebuchet MS" panose="020B0603020202020204" pitchFamily="34" charset="0"/>
              </a:rPr>
              <a:t>engine</a:t>
            </a:r>
            <a:r>
              <a:rPr lang="hu-HU" u="sng" dirty="0">
                <a:latin typeface="Trebuchet MS" panose="020B0603020202020204" pitchFamily="34" charset="0"/>
              </a:rPr>
              <a:t>:</a:t>
            </a:r>
          </a:p>
          <a:p>
            <a:endParaRPr lang="hu-HU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latin typeface="Trebuchet MS" panose="020B0603020202020204" pitchFamily="34" charset="0"/>
              </a:rPr>
              <a:t>KPI </a:t>
            </a:r>
            <a:r>
              <a:rPr lang="hu-HU" dirty="0" err="1">
                <a:latin typeface="Trebuchet MS" panose="020B0603020202020204" pitchFamily="34" charset="0"/>
              </a:rPr>
              <a:t>cards</a:t>
            </a:r>
            <a:r>
              <a:rPr lang="hu-HU" dirty="0">
                <a:latin typeface="Trebuchet MS" panose="020B0603020202020204" pitchFamily="34" charset="0"/>
              </a:rPr>
              <a:t> show </a:t>
            </a:r>
            <a:r>
              <a:rPr lang="hu-HU" dirty="0" err="1">
                <a:latin typeface="Trebuchet MS" panose="020B0603020202020204" pitchFamily="34" charset="0"/>
              </a:rPr>
              <a:t>the</a:t>
            </a:r>
            <a:r>
              <a:rPr lang="hu-HU" dirty="0">
                <a:latin typeface="Trebuchet MS" panose="020B0603020202020204" pitchFamily="34" charset="0"/>
              </a:rPr>
              <a:t> main </a:t>
            </a:r>
            <a:r>
              <a:rPr lang="hu-HU" dirty="0" err="1">
                <a:latin typeface="Trebuchet MS" panose="020B0603020202020204" pitchFamily="34" charset="0"/>
              </a:rPr>
              <a:t>metrics</a:t>
            </a:r>
            <a:r>
              <a:rPr lang="hu-HU" dirty="0">
                <a:latin typeface="Trebuchet MS" panose="020B0603020202020204" pitchFamily="34" charset="0"/>
              </a:rPr>
              <a:t> as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Revenue attributed to website sessions (5,009,057) is ~69% of total revenue</a:t>
            </a:r>
            <a:r>
              <a:rPr lang="hu-HU" dirty="0">
                <a:latin typeface="Trebuchet MS" panose="020B0603020202020204" pitchFamily="34" charset="0"/>
              </a:rPr>
              <a:t> -&gt; </a:t>
            </a:r>
            <a:r>
              <a:rPr lang="en-US" dirty="0">
                <a:latin typeface="Trebuchet MS" panose="020B0603020202020204" pitchFamily="34" charset="0"/>
              </a:rPr>
              <a:t>it’s materially tied to company revenue</a:t>
            </a:r>
            <a:endParaRPr lang="hu-HU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Trebuchet MS" panose="020B0603020202020204" pitchFamily="34" charset="0"/>
              </a:rPr>
              <a:t>Lessons</a:t>
            </a:r>
            <a:r>
              <a:rPr lang="hu-HU" dirty="0">
                <a:latin typeface="Trebuchet MS" panose="020B0603020202020204" pitchFamily="34" charset="0"/>
              </a:rPr>
              <a:t>, that </a:t>
            </a:r>
            <a:r>
              <a:rPr lang="hu-HU" dirty="0" err="1">
                <a:latin typeface="Trebuchet MS" panose="020B0603020202020204" pitchFamily="34" charset="0"/>
              </a:rPr>
              <a:t>can</a:t>
            </a:r>
            <a:r>
              <a:rPr lang="hu-HU" dirty="0">
                <a:latin typeface="Trebuchet MS" panose="020B0603020202020204" pitchFamily="34" charset="0"/>
              </a:rPr>
              <a:t> be </a:t>
            </a:r>
            <a:r>
              <a:rPr lang="hu-HU" dirty="0" err="1">
                <a:latin typeface="Trebuchet MS" panose="020B0603020202020204" pitchFamily="34" charset="0"/>
              </a:rPr>
              <a:t>taken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from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the</a:t>
            </a:r>
            <a:r>
              <a:rPr lang="hu-HU" dirty="0">
                <a:latin typeface="Trebuchet MS" panose="020B0603020202020204" pitchFamily="34" charset="0"/>
              </a:rPr>
              <a:t> </a:t>
            </a:r>
            <a:r>
              <a:rPr lang="hu-HU" dirty="0" err="1">
                <a:latin typeface="Trebuchet MS" panose="020B0603020202020204" pitchFamily="34" charset="0"/>
              </a:rPr>
              <a:t>data</a:t>
            </a:r>
            <a:r>
              <a:rPr lang="hu-HU" dirty="0">
                <a:latin typeface="Trebuchet MS" panose="020B0603020202020204" pitchFamily="34" charset="0"/>
              </a:rPr>
              <a:t>:</a:t>
            </a:r>
            <a:br>
              <a:rPr lang="hu-HU" dirty="0">
                <a:latin typeface="Trebuchet MS" panose="020B0603020202020204" pitchFamily="34" charset="0"/>
              </a:rPr>
            </a:br>
            <a:endParaRPr lang="hu-HU" dirty="0">
              <a:latin typeface="Trebuchet MS" panose="020B0603020202020204" pitchFamily="34" charset="0"/>
            </a:endParaRPr>
          </a:p>
          <a:p>
            <a:r>
              <a:rPr lang="hu-HU" dirty="0">
                <a:latin typeface="Trebuchet MS" panose="020B0603020202020204" pitchFamily="34" charset="0"/>
              </a:rPr>
              <a:t>	- </a:t>
            </a:r>
            <a:r>
              <a:rPr lang="en-US" dirty="0">
                <a:latin typeface="Trebuchet MS" panose="020B0603020202020204" pitchFamily="34" charset="0"/>
              </a:rPr>
              <a:t>Reallocate acquisition spend toward high-performing sources</a:t>
            </a:r>
            <a:endParaRPr lang="hu-HU" dirty="0">
              <a:latin typeface="Trebuchet MS" panose="020B0603020202020204" pitchFamily="34" charset="0"/>
            </a:endParaRPr>
          </a:p>
          <a:p>
            <a:r>
              <a:rPr lang="hu-HU" dirty="0">
                <a:latin typeface="Trebuchet MS" panose="020B0603020202020204" pitchFamily="34" charset="0"/>
              </a:rPr>
              <a:t>	- </a:t>
            </a:r>
            <a:r>
              <a:rPr lang="en-US" dirty="0">
                <a:latin typeface="Trebuchet MS" panose="020B0603020202020204" pitchFamily="34" charset="0"/>
              </a:rPr>
              <a:t>Fix tech performance gaps: use the platform and browser breakdown visuals to find combinations </a:t>
            </a:r>
            <a:r>
              <a:rPr lang="hu-HU" dirty="0">
                <a:latin typeface="Trebuchet MS" panose="020B0603020202020204" pitchFamily="34" charset="0"/>
              </a:rPr>
              <a:t>	</a:t>
            </a:r>
            <a:r>
              <a:rPr lang="en-US" dirty="0">
                <a:latin typeface="Trebuchet MS" panose="020B0603020202020204" pitchFamily="34" charset="0"/>
              </a:rPr>
              <a:t>with high “exit”/low conversion (e.g., “mobile + specific browser”)</a:t>
            </a:r>
            <a:endParaRPr lang="hu-HU" dirty="0">
              <a:latin typeface="Trebuchet MS" panose="020B0603020202020204" pitchFamily="34" charset="0"/>
            </a:endParaRPr>
          </a:p>
          <a:p>
            <a:r>
              <a:rPr lang="hu-HU" dirty="0">
                <a:latin typeface="Trebuchet MS" panose="020B0603020202020204" pitchFamily="34" charset="0"/>
              </a:rPr>
              <a:t>	- </a:t>
            </a:r>
            <a:r>
              <a:rPr lang="en-US" dirty="0">
                <a:latin typeface="Trebuchet MS" panose="020B0603020202020204" pitchFamily="34" charset="0"/>
              </a:rPr>
              <a:t>Instrument a weekly “digital revenue health” review</a:t>
            </a:r>
            <a:r>
              <a:rPr lang="hu-HU" dirty="0">
                <a:latin typeface="Trebuchet MS" panose="020B0603020202020204" pitchFamily="34" charset="0"/>
              </a:rPr>
              <a:t>s, </a:t>
            </a:r>
            <a:r>
              <a:rPr lang="hu-HU" dirty="0" err="1">
                <a:latin typeface="Trebuchet MS" panose="020B0603020202020204" pitchFamily="34" charset="0"/>
              </a:rPr>
              <a:t>tracking</a:t>
            </a:r>
            <a:r>
              <a:rPr lang="hu-HU" dirty="0">
                <a:latin typeface="Trebuchet MS" panose="020B0603020202020204" pitchFamily="34" charset="0"/>
              </a:rPr>
              <a:t> key </a:t>
            </a:r>
            <a:r>
              <a:rPr lang="hu-HU" dirty="0" err="1">
                <a:latin typeface="Trebuchet MS" panose="020B0603020202020204" pitchFamily="34" charset="0"/>
              </a:rPr>
              <a:t>metrics</a:t>
            </a:r>
            <a:br>
              <a:rPr lang="hu-HU" dirty="0">
                <a:latin typeface="Trebuchet MS" panose="020B0603020202020204" pitchFamily="34" charset="0"/>
              </a:rPr>
            </a:br>
            <a:endParaRPr lang="hu-HU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The website is a primary revenue driver: attributed revenue is ~5.0M, about 69% of total revenue, so the highest ROI actions are channel optimization and platform/browser fixes that remove conversion friction.</a:t>
            </a:r>
            <a:endParaRPr lang="hu-HU" dirty="0">
              <a:latin typeface="Trebuchet MS" panose="020B0603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2ADE5-CB2A-20B1-88D2-F910D7313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4E7D5-6974-4BC8-905E-ECC87E707F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53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359f705-2ba0-454b-9cfc-6ce5bcaac040}" enabled="1" method="Standard" siteId="{68283f3b-8487-4c86-adb3-a5228f18b893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PresentationFormat>Szélesvásznú</PresentationFormat>
  <Paragraphs>30</Paragraphs>
  <Slides>4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5" baseType="lpstr">
      <vt:lpstr>Office Theme</vt:lpstr>
      <vt:lpstr>Dashboard Insights Overview</vt:lpstr>
      <vt:lpstr>1. Main Page</vt:lpstr>
      <vt:lpstr>2. Sales Overview</vt:lpstr>
      <vt:lpstr>3. The website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Áron Szentesi, Vodafone</dc:creator>
  <cp:lastModifiedBy>Áron Szentesi, Vodafone</cp:lastModifiedBy>
  <cp:revision>4</cp:revision>
  <dcterms:created xsi:type="dcterms:W3CDTF">2026-04-05T22:35:50Z</dcterms:created>
  <dcterms:modified xsi:type="dcterms:W3CDTF">2026-04-06T04:33:12Z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C2 General</vt:lpwstr>
  </property>
</Properties>
</file>